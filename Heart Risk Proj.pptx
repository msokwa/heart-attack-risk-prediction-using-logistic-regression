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3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1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90706-0ED5-4021-A797-55218592D66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5655D-E4D8-44F3-A109-FE02F8AD9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76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5655D-E4D8-44F3-A109-FE02F8AD9C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84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66221-71A1-CF46-2D34-A21D412AD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37A60-D3A0-1F61-6715-F908403B2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6255A-5ACE-38C3-7F3A-371B1E7C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1ECE-EA39-44B9-9B81-9A17DEAF46F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84EC3-E867-ECA2-54C8-30D118A9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F1EF9-44CC-9095-6F59-EC75D811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FDE-A048-4C24-8815-ECD968B2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27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E5F24-30B9-B712-0378-771785126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E9E41-6275-3D5E-7822-1BD20A54D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83FD7-538F-3CA4-9FA3-18CF5D056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1ECE-EA39-44B9-9B81-9A17DEAF46F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C5758-8BC7-B310-8C48-8082BB32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A776F-D8D6-4878-A8A9-904748AC5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FDE-A048-4C24-8815-ECD968B2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65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CCEB-C0CD-CB88-CA1F-94341BAE0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F6AFE-9FC9-5885-9BBD-EFDF6CE3E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96C42-739C-F937-7003-8FF93B148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1ECE-EA39-44B9-9B81-9A17DEAF46F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9DB82-9AC6-81F6-54F8-33A6846F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CFDFC-A022-5AE8-97D7-F0F9694C2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FDE-A048-4C24-8815-ECD968B2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637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1772-68E1-76AE-3FF1-F6B8BAFC8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88640-0CE6-2709-DEE0-61BE03A62C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A75B5-440B-344A-486C-F1D0E84BE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B1581-BC29-E521-7E94-A2055CDF8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1ECE-EA39-44B9-9B81-9A17DEAF46F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BF939-7AB9-4950-1F4A-F97F2AA1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4D1D8-F9AD-F94A-FB32-AC7E48F8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FDE-A048-4C24-8815-ECD968B2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06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15E9F-BB31-219B-2130-2F0F725F1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0547D-5681-0D83-AB29-D479A53FC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7BAFF-AB1C-4546-D76C-204E34BE6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9F8A1-DFEA-5455-7D27-298577207E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28CCF-D498-A922-D4DD-2685C3695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503C48-EF20-8339-1078-FE9479824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1ECE-EA39-44B9-9B81-9A17DEAF46F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310B9B-7102-F63F-9F78-8E0942DB0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2976C-5341-77BD-06D9-FE3FBC756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FDE-A048-4C24-8815-ECD968B2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774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ADF6-7AEC-DAE4-DCAB-CBEAEF5A2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B7DCA-C4A2-C427-1827-138F72D1A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1ECE-EA39-44B9-9B81-9A17DEAF46F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76684C-13FE-B6A4-6E68-D44892D1B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D8D55-6455-DBC0-86B7-4EBD6057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FDE-A048-4C24-8815-ECD968B2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34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4E7230-4239-43A1-AB37-13E5F1BAB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1ECE-EA39-44B9-9B81-9A17DEAF46F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F1FEBF-8CB0-F789-631D-27D769C78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6848B-C10B-E84E-6E17-73BB1A3E6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FDE-A048-4C24-8815-ECD968B2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358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D7BFC-00CA-AEF0-C7EF-2DEC48E6C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10ABF-B9CC-5610-DA34-5EF32EEFA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283AF-0FD4-9905-7749-A51968FED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8763F-AC2D-A055-B3DA-5DFE27CE0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1ECE-EA39-44B9-9B81-9A17DEAF46F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ED357-CCB6-2154-32B3-ED0AD1525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6CF64-A84A-113F-10A2-5AF1F525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FDE-A048-4C24-8815-ECD968B2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90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883CF-6FDE-0324-2F8E-169E6A5E2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8AE1C-EB00-9EE3-F562-6D0B927A627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96C8C-AEA9-8C6E-BA29-2AC8F448D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761BDF-104F-44E9-3743-176F5281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1ECE-EA39-44B9-9B81-9A17DEAF46F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AFF30-B8A0-5CC1-998F-A8300B066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6A17E-3AA8-FAFA-BC5C-E03407ED0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FDE-A048-4C24-8815-ECD968B2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91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E150D-A9D7-18EC-89EB-C1783F29D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4AC7A-D215-BAD5-B0AC-4459F5DE7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3E4EB-F836-070B-1CB2-B4AA18280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1ECE-EA39-44B9-9B81-9A17DEAF46F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BE34A-B20F-30C0-1776-FAAFBC18F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9EF04-6547-D97F-1E8D-2EA400B2C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FDE-A048-4C24-8815-ECD968B2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6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10A1E7-9973-5040-5876-E84135579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C4789-3C1F-A213-734E-FEE35E1FA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ACA29-A4EF-1B56-7EF3-F019AE9D9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1ECE-EA39-44B9-9B81-9A17DEAF46F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750F5-7AE8-0715-D39D-AB138137C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AD77A-145F-A796-43C8-6EE4CB0B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FDE-A048-4C24-8815-ECD968B2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28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C94457-41A1-40F8-0778-C5E74D010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1DEAB-CF90-B4CC-944A-A0A95B432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8432C-E269-1CBC-8B38-DF5C313DC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E1ECE-EA39-44B9-9B81-9A17DEAF46F6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A3BAC-C6B2-289D-082A-B9ABF3680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A16E1-53CD-E52F-A7A1-59A36313C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69FFDE-A048-4C24-8815-ECD968B211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59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721F5A-3564-C9B5-5A66-640EB9BFB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US" sz="4200" dirty="0"/>
              <a:t>Heart Attack Risk </a:t>
            </a:r>
            <a:r>
              <a:rPr lang="en-US" sz="4200" dirty="0" err="1"/>
              <a:t>Predicton</a:t>
            </a:r>
            <a:br>
              <a:rPr lang="en-US" sz="4200" dirty="0"/>
            </a:br>
            <a:r>
              <a:rPr lang="en-US" sz="4200" dirty="0"/>
              <a:t>Using Logistic </a:t>
            </a:r>
            <a:r>
              <a:rPr lang="en-US" sz="4200" dirty="0" err="1"/>
              <a:t>Regresstion</a:t>
            </a:r>
            <a:r>
              <a:rPr lang="en-US" sz="4200" dirty="0"/>
              <a:t> </a:t>
            </a:r>
            <a:br>
              <a:rPr lang="en-US" sz="4200" dirty="0"/>
            </a:br>
            <a:r>
              <a:rPr lang="en-US" sz="4200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6D51E-8A34-CBF6-2095-FEA9DB430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en-US" dirty="0"/>
              <a:t>Course Name: Machine learning and Smart Systems  A+B</a:t>
            </a:r>
          </a:p>
          <a:p>
            <a:r>
              <a:rPr lang="en-US" dirty="0"/>
              <a:t>Name :Beatrice Raphael Msokwa (Matr :38548252)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97695E-7891-5C38-D20A-05F30795EE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70" r="39079" b="-2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0049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9A2FD-9103-DF0C-BA84-BFF409DFE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Project Overview &amp;Objective </a:t>
            </a:r>
            <a:br>
              <a:rPr lang="en-US" dirty="0">
                <a:solidFill>
                  <a:srgbClr val="FFFFFF"/>
                </a:solidFill>
              </a:rPr>
            </a:b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FE99D-9DF6-0FBD-1D7E-65963674F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disease is a leading global health challenge .
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Objective :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supervised Logistic Regression Classifier in python to predict patient heart attack Risk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36833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6C7282-EB56-C245-8EE2-90A51FEC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6A7A2-89D4-AFAB-7F32-F6E22C10A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Source : Kaggle Heart Attack Prediction Dataset (8,763 records, 26 features)</a:t>
            </a:r>
          </a:p>
          <a:p>
            <a:pPr marL="0" indent="0">
              <a:buNone/>
            </a:pPr>
            <a:r>
              <a:rPr lang="en-US" dirty="0"/>
              <a:t>Features Included</a:t>
            </a:r>
          </a:p>
          <a:p>
            <a:r>
              <a:rPr lang="en-US" dirty="0"/>
              <a:t>Demographics: </a:t>
            </a:r>
            <a:r>
              <a:rPr lang="en-US" dirty="0" err="1"/>
              <a:t>Age,Sex</a:t>
            </a:r>
            <a:endParaRPr lang="en-US" dirty="0"/>
          </a:p>
          <a:p>
            <a:r>
              <a:rPr lang="en-US" dirty="0"/>
              <a:t>Lifestyle : Smoking, Exercise</a:t>
            </a:r>
          </a:p>
          <a:p>
            <a:r>
              <a:rPr lang="en-US" dirty="0"/>
              <a:t>Medical Indicator: </a:t>
            </a:r>
            <a:r>
              <a:rPr lang="en-GB" dirty="0"/>
              <a:t> Cholesterol</a:t>
            </a:r>
            <a:r>
              <a:rPr lang="en-US" dirty="0"/>
              <a:t> ,</a:t>
            </a:r>
            <a:r>
              <a:rPr lang="en-GB" dirty="0"/>
              <a:t> blood pressure </a:t>
            </a:r>
            <a:r>
              <a:rPr lang="en-US" dirty="0"/>
              <a:t>,BMI</a:t>
            </a:r>
          </a:p>
          <a:p>
            <a:r>
              <a:rPr lang="en-GB" dirty="0"/>
              <a:t> </a:t>
            </a:r>
            <a:r>
              <a:rPr lang="en-US" dirty="0"/>
              <a:t>T</a:t>
            </a:r>
            <a:r>
              <a:rPr lang="en-GB" dirty="0" err="1"/>
              <a:t>arget</a:t>
            </a:r>
            <a:r>
              <a:rPr lang="en-GB" dirty="0"/>
              <a:t> </a:t>
            </a:r>
            <a:r>
              <a:rPr lang="en-US" dirty="0"/>
              <a:t>V</a:t>
            </a:r>
            <a:r>
              <a:rPr lang="en-GB" dirty="0" err="1"/>
              <a:t>ariables</a:t>
            </a:r>
            <a:r>
              <a:rPr lang="en-US" dirty="0"/>
              <a:t>: </a:t>
            </a:r>
            <a:r>
              <a:rPr lang="en-GB" dirty="0"/>
              <a:t> </a:t>
            </a:r>
            <a:r>
              <a:rPr lang="en-US" dirty="0"/>
              <a:t>B</a:t>
            </a:r>
            <a:r>
              <a:rPr lang="en-GB" dirty="0" err="1"/>
              <a:t>inary</a:t>
            </a:r>
            <a:r>
              <a:rPr lang="en-GB" dirty="0"/>
              <a:t> </a:t>
            </a:r>
            <a:r>
              <a:rPr lang="en-US" dirty="0"/>
              <a:t>C</a:t>
            </a:r>
            <a:r>
              <a:rPr lang="en-GB" dirty="0" err="1"/>
              <a:t>lassification</a:t>
            </a:r>
            <a:r>
              <a:rPr lang="en-US" dirty="0"/>
              <a:t> (0= Risk ,1= No Risk)</a:t>
            </a:r>
          </a:p>
        </p:txBody>
      </p:sp>
    </p:spTree>
    <p:extLst>
      <p:ext uri="{BB962C8B-B14F-4D97-AF65-F5344CB8AC3E}">
        <p14:creationId xmlns:p14="http://schemas.microsoft.com/office/powerpoint/2010/main" val="4044304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191D9C-B438-8A4F-AD24-2C399F7B0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100" dirty="0">
                <a:solidFill>
                  <a:srgbClr val="FFFFFF"/>
                </a:solidFill>
              </a:rPr>
              <a:t>Data Preprocessing </a:t>
            </a:r>
            <a:br>
              <a:rPr lang="en-US" sz="4100" dirty="0">
                <a:solidFill>
                  <a:srgbClr val="FFFFFF"/>
                </a:solidFill>
              </a:rPr>
            </a:br>
            <a:r>
              <a:rPr lang="en-US" sz="4100" dirty="0">
                <a:solidFill>
                  <a:srgbClr val="FFFFFF"/>
                </a:solidFill>
              </a:rPr>
              <a:t>Pipeline 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D1AC542-D022-04C0-A984-0C9D1FF5B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000"/>
              <a:t>Step1:Cleaning </a:t>
            </a:r>
          </a:p>
          <a:p>
            <a:pPr marL="0" indent="0">
              <a:buNone/>
            </a:pPr>
            <a:r>
              <a:rPr lang="en-US" sz="2000"/>
              <a:t>   Removed Unique Identifiers (Patient ID, Patient Name )</a:t>
            </a:r>
          </a:p>
          <a:p>
            <a:r>
              <a:rPr lang="en-US" sz="2000"/>
              <a:t>Step 2: Categorical Encoding </a:t>
            </a:r>
          </a:p>
          <a:p>
            <a:pPr marL="0" indent="0">
              <a:buNone/>
            </a:pPr>
            <a:r>
              <a:rPr lang="en-US" sz="2000"/>
              <a:t>   Turning word into anaumbers (since Robot don’t only understands numbers)</a:t>
            </a:r>
            <a:r>
              <a:rPr lang="en-GB" sz="2000"/>
              <a:t> via one hot encoding</a:t>
            </a:r>
            <a:r>
              <a:rPr lang="en-US" sz="2000"/>
              <a:t> (pd.get dummies)</a:t>
            </a:r>
          </a:p>
          <a:p>
            <a:r>
              <a:rPr lang="en-US" sz="2000"/>
              <a:t>Step 3:Scaling </a:t>
            </a:r>
          </a:p>
          <a:p>
            <a:pPr marL="0" indent="0">
              <a:buNone/>
            </a:pPr>
            <a:r>
              <a:rPr lang="en-GB" sz="2000"/>
              <a:t>       Standardised numerical features with standardscalar to ensure stable gradient descent convergence(some numbers are huge (eg cholesterol levels of 250) while others are tiny (eg age 50)</a:t>
            </a:r>
            <a:r>
              <a:rPr lang="en-US" sz="2000"/>
              <a:t> If you don't scale them, the big numbers bully the small ones. This step puts all the numbers on a fair, equal playground so the robot doesn't get confused.)</a:t>
            </a:r>
          </a:p>
          <a:p>
            <a:r>
              <a:rPr lang="en-US" sz="2000"/>
              <a:t>Step 4: Stratified Split</a:t>
            </a:r>
          </a:p>
          <a:p>
            <a:pPr marL="0" indent="0">
              <a:buNone/>
            </a:pPr>
            <a:r>
              <a:rPr lang="en-US" sz="2000"/>
              <a:t>      Divided data into 80% training and 20 % testing partitions </a:t>
            </a:r>
          </a:p>
        </p:txBody>
      </p:sp>
    </p:spTree>
    <p:extLst>
      <p:ext uri="{BB962C8B-B14F-4D97-AF65-F5344CB8AC3E}">
        <p14:creationId xmlns:p14="http://schemas.microsoft.com/office/powerpoint/2010/main" val="3302634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0A7BDD-2888-C63F-604B-47CAD4695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Logistic Regression Architecture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CF69EA-03F7-B0A1-6E90-4A6893D082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5554" y="992777"/>
            <a:ext cx="5068007" cy="1895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B3E6FA-2096-2DF0-E981-92563A495FDD}"/>
              </a:ext>
            </a:extLst>
          </p:cNvPr>
          <p:cNvSpPr txBox="1"/>
          <p:nvPr/>
        </p:nvSpPr>
        <p:spPr>
          <a:xfrm>
            <a:off x="6191794" y="992777"/>
            <a:ext cx="231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577ACE-DB89-3F2F-0999-90B063EE310F}"/>
              </a:ext>
            </a:extLst>
          </p:cNvPr>
          <p:cNvSpPr txBox="1"/>
          <p:nvPr/>
        </p:nvSpPr>
        <p:spPr>
          <a:xfrm>
            <a:off x="6422948" y="3362304"/>
            <a:ext cx="325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Sigmoid Hypothesis Function</a:t>
            </a:r>
          </a:p>
          <a:p>
            <a:r>
              <a:rPr lang="en-US" dirty="0"/>
              <a:t>P(y=1|x) = 1 / (1 + e^(-z))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EF56F1-5E72-57F0-2BF6-4C071364709F}"/>
              </a:ext>
            </a:extLst>
          </p:cNvPr>
          <p:cNvSpPr txBox="1"/>
          <p:nvPr/>
        </p:nvSpPr>
        <p:spPr>
          <a:xfrm>
            <a:off x="6492240" y="4323806"/>
            <a:ext cx="2964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Linear Decision Boundary</a:t>
            </a:r>
          </a:p>
          <a:p>
            <a:r>
              <a:rPr lang="en-US" dirty="0"/>
              <a:t>z = β₀ + β₁x₁ + β₂x₂ + ... + βₙxₙ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EA1248-2B5C-F954-4481-A1E9491B608E}"/>
              </a:ext>
            </a:extLst>
          </p:cNvPr>
          <p:cNvSpPr txBox="1"/>
          <p:nvPr/>
        </p:nvSpPr>
        <p:spPr>
          <a:xfrm>
            <a:off x="4167272" y="198284"/>
            <a:ext cx="6849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Mathematical formulation and scikit-learn parameter configuration </a:t>
            </a:r>
          </a:p>
        </p:txBody>
      </p:sp>
    </p:spTree>
    <p:extLst>
      <p:ext uri="{BB962C8B-B14F-4D97-AF65-F5344CB8AC3E}">
        <p14:creationId xmlns:p14="http://schemas.microsoft.com/office/powerpoint/2010/main" val="1262080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4FE0BB-506E-A847-656F-82B59BFEB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Model Evaluation &amp; Confusion Matrix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4CAA6F-9898-4CD2-BB30-902178BE27A8}"/>
              </a:ext>
            </a:extLst>
          </p:cNvPr>
          <p:cNvSpPr/>
          <p:nvPr/>
        </p:nvSpPr>
        <p:spPr>
          <a:xfrm>
            <a:off x="4670226" y="1541079"/>
            <a:ext cx="1582865" cy="8925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899</a:t>
            </a:r>
          </a:p>
          <a:p>
            <a:pPr algn="ctr"/>
            <a:r>
              <a:rPr lang="en-US" sz="1000" dirty="0"/>
              <a:t>True Negative (safe)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DE063B-868F-4D31-D9F2-90F2E37216BF}"/>
              </a:ext>
            </a:extLst>
          </p:cNvPr>
          <p:cNvSpPr/>
          <p:nvPr/>
        </p:nvSpPr>
        <p:spPr>
          <a:xfrm>
            <a:off x="6533127" y="1541417"/>
            <a:ext cx="1582865" cy="892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226</a:t>
            </a:r>
          </a:p>
          <a:p>
            <a:pPr algn="ctr"/>
            <a:r>
              <a:rPr lang="en-US" sz="1000" dirty="0"/>
              <a:t>False Positive (Alarm)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57830A-2E0E-6167-0E60-FF253849C1A5}"/>
              </a:ext>
            </a:extLst>
          </p:cNvPr>
          <p:cNvSpPr/>
          <p:nvPr/>
        </p:nvSpPr>
        <p:spPr>
          <a:xfrm>
            <a:off x="6602141" y="2795614"/>
            <a:ext cx="1639983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117</a:t>
            </a:r>
          </a:p>
          <a:p>
            <a:pPr algn="ctr"/>
            <a:r>
              <a:rPr lang="en-US" sz="1000" dirty="0"/>
              <a:t>True Positive (Caught)</a:t>
            </a:r>
          </a:p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67F993-54BC-9976-D5E5-1F33C37D9E5C}"/>
              </a:ext>
            </a:extLst>
          </p:cNvPr>
          <p:cNvSpPr/>
          <p:nvPr/>
        </p:nvSpPr>
        <p:spPr>
          <a:xfrm>
            <a:off x="4670226" y="2795614"/>
            <a:ext cx="1639983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511</a:t>
            </a:r>
          </a:p>
          <a:p>
            <a:pPr algn="ctr"/>
            <a:r>
              <a:rPr lang="en-US" sz="1000" dirty="0"/>
              <a:t>False Negative (Missed)</a:t>
            </a:r>
          </a:p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904F98-2D40-0726-8C67-A2C983F49D55}"/>
              </a:ext>
            </a:extLst>
          </p:cNvPr>
          <p:cNvSpPr/>
          <p:nvPr/>
        </p:nvSpPr>
        <p:spPr>
          <a:xfrm>
            <a:off x="8304790" y="1551986"/>
            <a:ext cx="2860211" cy="892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Overalll</a:t>
            </a:r>
            <a:r>
              <a:rPr lang="en-US" sz="1200" dirty="0"/>
              <a:t> Accuracy is 58%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8DBA11-0C0B-815E-1A27-9A39A84D9FEC}"/>
              </a:ext>
            </a:extLst>
          </p:cNvPr>
          <p:cNvSpPr/>
          <p:nvPr/>
        </p:nvSpPr>
        <p:spPr>
          <a:xfrm>
            <a:off x="8367856" y="2817766"/>
            <a:ext cx="2860211" cy="892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The Medical limitation </a:t>
            </a:r>
          </a:p>
          <a:p>
            <a:pPr algn="ctr"/>
            <a:r>
              <a:rPr lang="en-US" sz="1000" dirty="0"/>
              <a:t>High false negatives (511) highlight that raw accuracy is insufficient for imbalanced medical data.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08E94177-AEED-6F9A-BBCD-C17E8C4071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7272" y="4111657"/>
            <a:ext cx="3020458" cy="242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95081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9236C7-D55F-3E4F-094A-2780CA00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C</a:t>
            </a:r>
            <a:r>
              <a:rPr lang="en-GB" dirty="0" err="1">
                <a:solidFill>
                  <a:srgbClr val="FFFFFF"/>
                </a:solidFill>
              </a:rPr>
              <a:t>onclusion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89E67-7943-3C35-284C-A522CB7DB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484" y="636190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sz="2200" b="1" dirty="0"/>
              <a:t>Key Takeaways </a:t>
            </a:r>
          </a:p>
          <a:p>
            <a:r>
              <a:rPr lang="en-US" sz="1900" dirty="0"/>
              <a:t>  Pipeline Success: Successfully built and executed a complete 8-step machine learning pipeline in Python.</a:t>
            </a:r>
          </a:p>
          <a:p>
            <a:pPr lvl="0"/>
            <a:r>
              <a:rPr lang="en-US" sz="1900" dirty="0"/>
              <a:t>Accuracy is Deceptive: Raw accuracy (~58%) looks okay on paper, but high false negatives show why medical datasets require checking the </a:t>
            </a:r>
            <a:r>
              <a:rPr lang="en-US" sz="1900" b="1" dirty="0"/>
              <a:t>Confusion Matrix and Recall</a:t>
            </a:r>
            <a:r>
              <a:rPr lang="en-US" sz="1900" dirty="0"/>
              <a:t>.</a:t>
            </a:r>
          </a:p>
          <a:p>
            <a:pPr marL="0" indent="0">
              <a:buNone/>
            </a:pPr>
            <a:r>
              <a:rPr lang="en-US" sz="3300" b="1" dirty="0"/>
              <a:t> </a:t>
            </a:r>
            <a:r>
              <a:rPr lang="en-US" sz="2200" b="1" dirty="0"/>
              <a:t>Alternative Models </a:t>
            </a:r>
          </a:p>
          <a:p>
            <a:r>
              <a:rPr lang="en-US" sz="1700" dirty="0"/>
              <a:t>Random Forest: Combines multiple decision trees to find complex patterns that a simple straight line (Logistic Regression) might miss.</a:t>
            </a:r>
          </a:p>
          <a:p>
            <a:pPr lvl="0"/>
            <a:r>
              <a:rPr lang="en-US" sz="1700" dirty="0"/>
              <a:t>Support Vector Machines (SVM): Excellent at drawing precise boundary lines to separate healthy patients from at-risk patients.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421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C577BED831C954CA19388CBF48FC3D1" ma:contentTypeVersion="13" ma:contentTypeDescription="Ein neues Dokument erstellen." ma:contentTypeScope="" ma:versionID="f932fdada5eb9db977105fca7e20b4eb">
  <xsd:schema xmlns:xsd="http://www.w3.org/2001/XMLSchema" xmlns:xs="http://www.w3.org/2001/XMLSchema" xmlns:p="http://schemas.microsoft.com/office/2006/metadata/properties" xmlns:ns3="d6701958-ab30-497d-b8b9-883f66929d26" xmlns:ns4="5f0d861d-c953-4ddc-85b7-a2a7e2111b05" targetNamespace="http://schemas.microsoft.com/office/2006/metadata/properties" ma:root="true" ma:fieldsID="a15298cc378befd74b6e68e9d6efd61b" ns3:_="" ns4:_="">
    <xsd:import namespace="d6701958-ab30-497d-b8b9-883f66929d26"/>
    <xsd:import namespace="5f0d861d-c953-4ddc-85b7-a2a7e2111b0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701958-ab30-497d-b8b9-883f66929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d861d-c953-4ddc-85b7-a2a7e2111b0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6701958-ab30-497d-b8b9-883f66929d26" xsi:nil="true"/>
  </documentManagement>
</p:properties>
</file>

<file path=customXml/itemProps1.xml><?xml version="1.0" encoding="utf-8"?>
<ds:datastoreItem xmlns:ds="http://schemas.openxmlformats.org/officeDocument/2006/customXml" ds:itemID="{D405D178-C020-4C2E-B223-49919487B2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701958-ab30-497d-b8b9-883f66929d26"/>
    <ds:schemaRef ds:uri="5f0d861d-c953-4ddc-85b7-a2a7e2111b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7E8EB0-D152-4C8D-A1BE-493B70D9A2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C5E113-0E9E-4558-AD01-44968245EF38}">
  <ds:schemaRefs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elements/1.1/"/>
    <ds:schemaRef ds:uri="5f0d861d-c953-4ddc-85b7-a2a7e2111b05"/>
    <ds:schemaRef ds:uri="http://schemas.microsoft.com/office/infopath/2007/PartnerControls"/>
    <ds:schemaRef ds:uri="http://schemas.openxmlformats.org/package/2006/metadata/core-properties"/>
    <ds:schemaRef ds:uri="d6701958-ab30-497d-b8b9-883f66929d26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466</Words>
  <Application>Microsoft Office PowerPoint</Application>
  <PresentationFormat>Widescreen</PresentationFormat>
  <Paragraphs>51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Cambria</vt:lpstr>
      <vt:lpstr>Office Theme</vt:lpstr>
      <vt:lpstr>Heart Attack Risk Predicton Using Logistic Regresstion   </vt:lpstr>
      <vt:lpstr>Project Overview &amp;Objective  </vt:lpstr>
      <vt:lpstr>Dataset Overview </vt:lpstr>
      <vt:lpstr>Data Preprocessing  Pipeline </vt:lpstr>
      <vt:lpstr>Logistic Regression Architecture</vt:lpstr>
      <vt:lpstr>Model Evaluation &amp; Confusion Matrix</vt:lpstr>
      <vt:lpstr>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Beatrice Raphael Msokwa</dc:creator>
  <cp:lastModifiedBy>Beatrice Raphael Msokwa</cp:lastModifiedBy>
  <cp:revision>3</cp:revision>
  <dcterms:created xsi:type="dcterms:W3CDTF">2026-10-13T07:56:52Z</dcterms:created>
  <dcterms:modified xsi:type="dcterms:W3CDTF">2026-10-13T18:59:51Z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0x0101006C577BED831C954CA19388CBF48FC3D1</vt:lpwstr>
  </property>
</Properties>
</file>